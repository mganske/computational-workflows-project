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2719c0f069395d5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2719c0f069395d5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2719c0f069395d5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2719c0f069395d5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2719c0f069395d5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2719c0f069395d5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1547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2435"/>
              <a:t>Computational Workflows Project </a:t>
            </a:r>
            <a:endParaRPr sz="6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155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1547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6675"/>
              <a:buFont typeface="Arial"/>
              <a:buNone/>
            </a:pPr>
            <a:r>
              <a:t/>
            </a:r>
            <a:endParaRPr b="1" sz="1435">
              <a:solidFill>
                <a:schemeClr val="dk1"/>
              </a:solidFill>
            </a:endParaRPr>
          </a:p>
          <a:p>
            <a:pPr indent="0" lvl="0" marL="12272" rtl="0" algn="l">
              <a:spcBef>
                <a:spcPts val="947"/>
              </a:spcBef>
              <a:spcAft>
                <a:spcPts val="0"/>
              </a:spcAft>
              <a:buClr>
                <a:schemeClr val="dk1"/>
              </a:buClr>
              <a:buSzPct val="110413"/>
              <a:buFont typeface="Arial"/>
              <a:buNone/>
            </a:pPr>
            <a:r>
              <a:rPr b="1" lang="it" sz="996">
                <a:solidFill>
                  <a:schemeClr val="dk1"/>
                </a:solidFill>
              </a:rPr>
              <a:t>Course: </a:t>
            </a:r>
            <a:r>
              <a:rPr lang="it" sz="996">
                <a:solidFill>
                  <a:schemeClr val="dk1"/>
                </a:solidFill>
              </a:rPr>
              <a:t>Computational Workflows — Summer Semester 2026 </a:t>
            </a:r>
            <a:endParaRPr sz="996">
              <a:solidFill>
                <a:schemeClr val="dk1"/>
              </a:solidFill>
            </a:endParaRPr>
          </a:p>
          <a:p>
            <a:pPr indent="0" lvl="0" marL="9361" rtl="0" algn="l">
              <a:spcBef>
                <a:spcPts val="33"/>
              </a:spcBef>
              <a:spcAft>
                <a:spcPts val="0"/>
              </a:spcAft>
              <a:buClr>
                <a:schemeClr val="dk1"/>
              </a:buClr>
              <a:buSzPct val="110413"/>
              <a:buFont typeface="Arial"/>
              <a:buNone/>
            </a:pPr>
            <a:r>
              <a:rPr b="1" lang="it" sz="996">
                <a:solidFill>
                  <a:schemeClr val="dk1"/>
                </a:solidFill>
              </a:rPr>
              <a:t>Authors: </a:t>
            </a:r>
            <a:r>
              <a:rPr lang="it" sz="996">
                <a:solidFill>
                  <a:schemeClr val="dk1"/>
                </a:solidFill>
              </a:rPr>
              <a:t>Marcus Ganske &amp; Davide Bordiga </a:t>
            </a:r>
            <a:endParaRPr sz="996">
              <a:solidFill>
                <a:schemeClr val="dk1"/>
              </a:solidFill>
            </a:endParaRPr>
          </a:p>
          <a:p>
            <a:pPr indent="0" lvl="0" marL="9108" rtl="0" algn="l">
              <a:spcBef>
                <a:spcPts val="33"/>
              </a:spcBef>
              <a:spcAft>
                <a:spcPts val="0"/>
              </a:spcAft>
              <a:buClr>
                <a:schemeClr val="dk1"/>
              </a:buClr>
              <a:buSzPct val="110413"/>
              <a:buFont typeface="Arial"/>
              <a:buNone/>
            </a:pPr>
            <a:r>
              <a:rPr b="1" lang="it" sz="996">
                <a:solidFill>
                  <a:schemeClr val="dk1"/>
                </a:solidFill>
              </a:rPr>
              <a:t>Pipeline: </a:t>
            </a:r>
            <a:r>
              <a:rPr lang="it" sz="996">
                <a:solidFill>
                  <a:schemeClr val="dk1"/>
                </a:solidFill>
              </a:rPr>
              <a:t>mganske/computational-workflows-project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Why?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1273223" rtl="0" algn="l">
              <a:lnSpc>
                <a:spcPct val="149942"/>
              </a:lnSpc>
              <a:spcBef>
                <a:spcPts val="644"/>
              </a:spcBef>
              <a:spcAft>
                <a:spcPts val="0"/>
              </a:spcAft>
              <a:buNone/>
            </a:pPr>
            <a:r>
              <a:rPr lang="it" sz="996">
                <a:solidFill>
                  <a:schemeClr val="dk1"/>
                </a:solidFill>
              </a:rPr>
              <a:t>Most published pipelines are unusable: no version pinning, no containers, no testing. </a:t>
            </a:r>
            <a:endParaRPr sz="996">
              <a:solidFill>
                <a:schemeClr val="dk1"/>
              </a:solidFill>
            </a:endParaRPr>
          </a:p>
          <a:p>
            <a:pPr indent="0" lvl="0" marL="0" marR="1273223" rtl="0" algn="l">
              <a:lnSpc>
                <a:spcPct val="149942"/>
              </a:lnSpc>
              <a:spcBef>
                <a:spcPts val="64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96">
                <a:solidFill>
                  <a:schemeClr val="dk1"/>
                </a:solidFill>
              </a:rPr>
              <a:t>We built an nf-core compliant RNA-seq pipeline: </a:t>
            </a:r>
            <a:endParaRPr sz="996">
              <a:solidFill>
                <a:schemeClr val="dk1"/>
              </a:solidFill>
            </a:endParaRPr>
          </a:p>
          <a:p>
            <a:pPr indent="-4555" lvl="0" marL="12272" marR="388428" rtl="0" algn="l">
              <a:lnSpc>
                <a:spcPct val="149938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it" sz="996">
                <a:solidFill>
                  <a:schemeClr val="dk1"/>
                </a:solidFill>
              </a:rPr>
              <a:t>FASTQC → TRIMGALORE → HISAT2 → SAMTOOLS_SORT → PICARD_MARKDUP → STRING_TIE → MULTIQC </a:t>
            </a:r>
            <a:endParaRPr sz="996">
              <a:solidFill>
                <a:schemeClr val="dk1"/>
              </a:solidFill>
            </a:endParaRPr>
          </a:p>
          <a:p>
            <a:pPr indent="-4555" lvl="0" marL="12272" marR="388428" rtl="0" algn="l">
              <a:lnSpc>
                <a:spcPct val="149938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t/>
            </a:r>
            <a:endParaRPr sz="996">
              <a:solidFill>
                <a:schemeClr val="dk1"/>
              </a:solidFill>
            </a:endParaRPr>
          </a:p>
          <a:p>
            <a:pPr indent="-4555" lvl="0" marL="12272" marR="388428" rtl="0" algn="l">
              <a:lnSpc>
                <a:spcPct val="149938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96">
                <a:solidFill>
                  <a:schemeClr val="dk1"/>
                </a:solidFill>
              </a:rPr>
              <a:t>Automated reports </a:t>
            </a:r>
            <a:r>
              <a:rPr b="1" lang="it" sz="996">
                <a:solidFill>
                  <a:schemeClr val="dk1"/>
                </a:solidFill>
              </a:rPr>
              <a:t>One command runs anywhere: </a:t>
            </a:r>
            <a:endParaRPr b="1" sz="996">
              <a:solidFill>
                <a:schemeClr val="dk1"/>
              </a:solidFill>
            </a:endParaRPr>
          </a:p>
          <a:p>
            <a:pPr indent="0" lvl="0" marL="5692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96">
                <a:solidFill>
                  <a:schemeClr val="dk1"/>
                </a:solidFill>
              </a:rPr>
              <a:t>nextflow run mganske/computational-workflows-project </a:t>
            </a:r>
            <a:r>
              <a:rPr lang="it" sz="996">
                <a:solidFill>
                  <a:srgbClr val="8F2100"/>
                </a:solidFill>
              </a:rPr>
              <a:t>\ </a:t>
            </a:r>
            <a:endParaRPr sz="996">
              <a:solidFill>
                <a:srgbClr val="8F2100"/>
              </a:solidFill>
            </a:endParaRPr>
          </a:p>
          <a:p>
            <a:pPr indent="0" lvl="0" marL="144115" rtl="0" algn="l">
              <a:lnSpc>
                <a:spcPct val="100000"/>
              </a:lnSpc>
              <a:spcBef>
                <a:spcPts val="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96">
                <a:solidFill>
                  <a:srgbClr val="7D8F29"/>
                </a:solidFill>
              </a:rPr>
              <a:t>-r </a:t>
            </a:r>
            <a:r>
              <a:rPr lang="it" sz="996">
                <a:solidFill>
                  <a:schemeClr val="dk1"/>
                </a:solidFill>
              </a:rPr>
              <a:t>1.0.0 </a:t>
            </a:r>
            <a:r>
              <a:rPr lang="it" sz="996">
                <a:solidFill>
                  <a:srgbClr val="7D8F29"/>
                </a:solidFill>
              </a:rPr>
              <a:t>-profile </a:t>
            </a:r>
            <a:r>
              <a:rPr lang="it" sz="996">
                <a:solidFill>
                  <a:schemeClr val="dk1"/>
                </a:solidFill>
              </a:rPr>
              <a:t>docker </a:t>
            </a:r>
            <a:r>
              <a:rPr lang="it" sz="996">
                <a:solidFill>
                  <a:srgbClr val="7D8F29"/>
                </a:solidFill>
              </a:rPr>
              <a:t>--input </a:t>
            </a:r>
            <a:r>
              <a:rPr lang="it" sz="996">
                <a:solidFill>
                  <a:schemeClr val="dk1"/>
                </a:solidFill>
              </a:rPr>
              <a:t>samplesheet.csv </a:t>
            </a:r>
            <a:r>
              <a:rPr lang="it" sz="996">
                <a:solidFill>
                  <a:srgbClr val="7D8F29"/>
                </a:solidFill>
              </a:rPr>
              <a:t>--outdir </a:t>
            </a:r>
            <a:r>
              <a:rPr lang="it" sz="996">
                <a:solidFill>
                  <a:schemeClr val="dk1"/>
                </a:solidFill>
              </a:rPr>
              <a:t>results </a:t>
            </a:r>
            <a:r>
              <a:rPr lang="it" sz="996">
                <a:solidFill>
                  <a:srgbClr val="7D8F29"/>
                </a:solidFill>
              </a:rPr>
              <a:t>-resume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222"/>
              </a:spcBef>
              <a:spcAft>
                <a:spcPts val="0"/>
              </a:spcAft>
              <a:buNone/>
            </a:pPr>
            <a:r>
              <a:rPr b="1" lang="it" sz="1196"/>
              <a:t>Wave Freeze — One Container Strategy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55" lvl="0" marL="7717" marR="24535" rtl="0" algn="l">
              <a:lnSpc>
                <a:spcPct val="99959"/>
              </a:lnSpc>
              <a:spcBef>
                <a:spcPts val="644"/>
              </a:spcBef>
              <a:spcAft>
                <a:spcPts val="0"/>
              </a:spcAft>
              <a:buNone/>
            </a:pPr>
            <a:r>
              <a:rPr b="1" lang="it" sz="996">
                <a:solidFill>
                  <a:schemeClr val="dk1"/>
                </a:solidFill>
              </a:rPr>
              <a:t>Struggle: </a:t>
            </a:r>
            <a:r>
              <a:rPr lang="it" sz="996">
                <a:solidFill>
                  <a:schemeClr val="dk1"/>
                </a:solidFill>
              </a:rPr>
              <a:t>Each profile broke differently</a:t>
            </a:r>
            <a:endParaRPr b="1" sz="996">
              <a:solidFill>
                <a:schemeClr val="dk1"/>
              </a:solidFill>
            </a:endParaRPr>
          </a:p>
          <a:p>
            <a:pPr indent="4555" lvl="0" marL="464917" marR="24535" rtl="0" algn="l">
              <a:lnSpc>
                <a:spcPct val="99959"/>
              </a:lnSpc>
              <a:spcBef>
                <a:spcPts val="644"/>
              </a:spcBef>
              <a:spcAft>
                <a:spcPts val="0"/>
              </a:spcAft>
              <a:buNone/>
            </a:pPr>
            <a:r>
              <a:rPr lang="it" sz="996">
                <a:solidFill>
                  <a:schemeClr val="dk1"/>
                </a:solidFill>
              </a:rPr>
              <a:t>HISAT2 on quay.io (Docker) / Galaxy (Singularity). </a:t>
            </a:r>
            <a:endParaRPr sz="996">
              <a:solidFill>
                <a:schemeClr val="dk1"/>
              </a:solidFill>
            </a:endParaRPr>
          </a:p>
          <a:p>
            <a:pPr indent="4555" lvl="0" marL="464917" marR="24535" rtl="0" algn="l">
              <a:lnSpc>
                <a:spcPct val="99959"/>
              </a:lnSpc>
              <a:spcBef>
                <a:spcPts val="64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96">
                <a:solidFill>
                  <a:schemeClr val="dk1"/>
                </a:solidFill>
              </a:rPr>
              <a:t>StringTie only on Wave registry. </a:t>
            </a:r>
            <a:endParaRPr sz="996">
              <a:solidFill>
                <a:schemeClr val="dk1"/>
              </a:solidFill>
            </a:endParaRPr>
          </a:p>
          <a:p>
            <a:pPr indent="0" lvl="0" marL="9108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996">
                <a:solidFill>
                  <a:schemeClr val="dk1"/>
                </a:solidFill>
              </a:rPr>
              <a:t>Fix: </a:t>
            </a:r>
            <a:r>
              <a:rPr lang="it" sz="996">
                <a:solidFill>
                  <a:schemeClr val="dk1"/>
                </a:solidFill>
              </a:rPr>
              <a:t>Three lines in nextflow.config: </a:t>
            </a:r>
            <a:endParaRPr sz="996">
              <a:solidFill>
                <a:schemeClr val="dk1"/>
              </a:solidFill>
            </a:endParaRPr>
          </a:p>
          <a:p>
            <a:pPr indent="0" lvl="0" marL="6199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96">
                <a:solidFill>
                  <a:schemeClr val="dk1"/>
                </a:solidFill>
              </a:rPr>
              <a:t>wave </a:t>
            </a:r>
            <a:r>
              <a:rPr lang="it" sz="996">
                <a:solidFill>
                  <a:srgbClr val="666666"/>
                </a:solidFill>
              </a:rPr>
              <a:t>{ </a:t>
            </a:r>
            <a:endParaRPr sz="996">
              <a:solidFill>
                <a:srgbClr val="666666"/>
              </a:solidFill>
            </a:endParaRPr>
          </a:p>
          <a:p>
            <a:pPr indent="0" lvl="0" marL="276842" rtl="0" algn="l">
              <a:lnSpc>
                <a:spcPct val="100000"/>
              </a:lnSpc>
              <a:spcBef>
                <a:spcPts val="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96">
                <a:solidFill>
                  <a:schemeClr val="dk1"/>
                </a:solidFill>
              </a:rPr>
              <a:t>enabled </a:t>
            </a:r>
            <a:r>
              <a:rPr lang="it" sz="996">
                <a:solidFill>
                  <a:srgbClr val="666666"/>
                </a:solidFill>
              </a:rPr>
              <a:t>= </a:t>
            </a:r>
            <a:r>
              <a:rPr b="1" lang="it" sz="996">
                <a:solidFill>
                  <a:srgbClr val="007021"/>
                </a:solidFill>
              </a:rPr>
              <a:t>true </a:t>
            </a:r>
            <a:endParaRPr b="1" sz="996">
              <a:solidFill>
                <a:srgbClr val="007021"/>
              </a:solidFill>
            </a:endParaRPr>
          </a:p>
          <a:p>
            <a:pPr indent="0" lvl="0" marL="275198" rtl="0" algn="l">
              <a:lnSpc>
                <a:spcPct val="100000"/>
              </a:lnSpc>
              <a:spcBef>
                <a:spcPts val="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96">
                <a:solidFill>
                  <a:schemeClr val="dk1"/>
                </a:solidFill>
              </a:rPr>
              <a:t>freeze </a:t>
            </a:r>
            <a:r>
              <a:rPr lang="it" sz="996">
                <a:solidFill>
                  <a:srgbClr val="666666"/>
                </a:solidFill>
              </a:rPr>
              <a:t>= </a:t>
            </a:r>
            <a:r>
              <a:rPr b="1" lang="it" sz="996">
                <a:solidFill>
                  <a:srgbClr val="007021"/>
                </a:solidFill>
              </a:rPr>
              <a:t>true </a:t>
            </a:r>
            <a:endParaRPr b="1" sz="996">
              <a:solidFill>
                <a:srgbClr val="007021"/>
              </a:solidFill>
            </a:endParaRPr>
          </a:p>
          <a:p>
            <a:pPr indent="0" lvl="0" marL="278994" rtl="0" algn="l">
              <a:lnSpc>
                <a:spcPct val="100000"/>
              </a:lnSpc>
              <a:spcBef>
                <a:spcPts val="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96">
                <a:solidFill>
                  <a:schemeClr val="dk1"/>
                </a:solidFill>
              </a:rPr>
              <a:t>strategy </a:t>
            </a:r>
            <a:r>
              <a:rPr lang="it" sz="996">
                <a:solidFill>
                  <a:srgbClr val="666666"/>
                </a:solidFill>
              </a:rPr>
              <a:t>= </a:t>
            </a:r>
            <a:r>
              <a:rPr lang="it" sz="996">
                <a:solidFill>
                  <a:srgbClr val="4070A1"/>
                </a:solidFill>
              </a:rPr>
              <a:t>'conda,container' </a:t>
            </a:r>
            <a:endParaRPr sz="996">
              <a:solidFill>
                <a:srgbClr val="4070A1"/>
              </a:solidFill>
            </a:endParaRPr>
          </a:p>
          <a:p>
            <a:pPr indent="0" lvl="0" marL="11386" rtl="0" algn="l">
              <a:lnSpc>
                <a:spcPct val="100000"/>
              </a:lnSpc>
              <a:spcBef>
                <a:spcPts val="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96">
                <a:solidFill>
                  <a:srgbClr val="666666"/>
                </a:solidFill>
              </a:rPr>
              <a:t>} </a:t>
            </a:r>
            <a:endParaRPr sz="996">
              <a:solidFill>
                <a:srgbClr val="666666"/>
              </a:solidFill>
            </a:endParaRPr>
          </a:p>
          <a:p>
            <a:pPr indent="2150" lvl="0" marL="6199" marR="24611" rtl="0" algn="l">
              <a:lnSpc>
                <a:spcPct val="99959"/>
              </a:lnSpc>
              <a:spcBef>
                <a:spcPts val="631"/>
              </a:spcBef>
              <a:spcAft>
                <a:spcPts val="0"/>
              </a:spcAft>
              <a:buNone/>
            </a:pPr>
            <a:r>
              <a:rPr lang="it" sz="996">
                <a:solidFill>
                  <a:schemeClr val="dk1"/>
                </a:solidFill>
              </a:rPr>
              <a:t>First run with -profile wave → pulls both containers, freezes to SHA256 digests in your registry, writes wave-containers.yml. </a:t>
            </a:r>
            <a:endParaRPr sz="996">
              <a:solidFill>
                <a:schemeClr val="dk1"/>
              </a:solidFill>
            </a:endParaRPr>
          </a:p>
          <a:p>
            <a:pPr indent="2150" lvl="0" marL="6199" marR="24611" rtl="0" algn="l">
              <a:lnSpc>
                <a:spcPct val="99959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996">
                <a:solidFill>
                  <a:schemeClr val="dk1"/>
                </a:solidFill>
              </a:rPr>
              <a:t>After that, </a:t>
            </a:r>
            <a:r>
              <a:rPr b="1" lang="it" sz="996">
                <a:solidFill>
                  <a:schemeClr val="dk1"/>
                </a:solidFill>
              </a:rPr>
              <a:t>any profile </a:t>
            </a:r>
            <a:r>
              <a:rPr lang="it" sz="996">
                <a:solidFill>
                  <a:schemeClr val="dk1"/>
                </a:solidFill>
              </a:rPr>
              <a:t>pulls identical containers. </a:t>
            </a:r>
            <a:endParaRPr sz="99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22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196"/>
              <a:t>Test Profile + Stubs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996">
                <a:solidFill>
                  <a:schemeClr val="dk1"/>
                </a:solidFill>
              </a:rPr>
              <a:t>Struggle: </a:t>
            </a:r>
            <a:r>
              <a:rPr lang="it" sz="996">
                <a:solidFill>
                  <a:schemeClr val="dk1"/>
                </a:solidFill>
              </a:rPr>
              <a:t>“Tests later” → never happens. </a:t>
            </a:r>
            <a:endParaRPr sz="996">
              <a:solidFill>
                <a:schemeClr val="dk1"/>
              </a:solidFill>
            </a:endParaRPr>
          </a:p>
          <a:p>
            <a:pPr indent="0" lvl="0" marL="9108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996">
                <a:solidFill>
                  <a:schemeClr val="dk1"/>
                </a:solidFill>
              </a:rPr>
              <a:t>Fix: </a:t>
            </a:r>
            <a:r>
              <a:rPr lang="it" sz="996">
                <a:solidFill>
                  <a:schemeClr val="dk1"/>
                </a:solidFill>
              </a:rPr>
              <a:t>-profile test + module stubs. </a:t>
            </a:r>
            <a:endParaRPr sz="996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3"/>
              </a:spcBef>
              <a:spcAft>
                <a:spcPts val="0"/>
              </a:spcAft>
              <a:buNone/>
            </a:pPr>
            <a:r>
              <a:t/>
            </a:r>
            <a:endParaRPr sz="996">
              <a:solidFill>
                <a:srgbClr val="4070A1"/>
              </a:solidFill>
            </a:endParaRPr>
          </a:p>
          <a:p>
            <a:pPr indent="0" lvl="0" marL="12272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None/>
            </a:pPr>
            <a:r>
              <a:rPr b="1" lang="it" sz="996">
                <a:solidFill>
                  <a:schemeClr val="dk1"/>
                </a:solidFill>
              </a:rPr>
              <a:t>One command tests entire logic: </a:t>
            </a:r>
            <a:endParaRPr b="1" sz="996">
              <a:solidFill>
                <a:schemeClr val="dk1"/>
              </a:solidFill>
            </a:endParaRPr>
          </a:p>
          <a:p>
            <a:pPr indent="0" lvl="0" marL="5692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None/>
            </a:pPr>
            <a:r>
              <a:rPr lang="it" sz="996">
                <a:solidFill>
                  <a:schemeClr val="dk1"/>
                </a:solidFill>
              </a:rPr>
              <a:t>nextflow run . </a:t>
            </a:r>
            <a:r>
              <a:rPr lang="it" sz="996">
                <a:solidFill>
                  <a:srgbClr val="7D8F29"/>
                </a:solidFill>
              </a:rPr>
              <a:t>-profile </a:t>
            </a:r>
            <a:r>
              <a:rPr lang="it" sz="996">
                <a:solidFill>
                  <a:schemeClr val="dk1"/>
                </a:solidFill>
              </a:rPr>
              <a:t>test,docker </a:t>
            </a:r>
            <a:r>
              <a:rPr lang="it" sz="996">
                <a:solidFill>
                  <a:srgbClr val="7D8F29"/>
                </a:solidFill>
              </a:rPr>
              <a:t>--outdir </a:t>
            </a:r>
            <a:r>
              <a:rPr lang="it" sz="996">
                <a:solidFill>
                  <a:schemeClr val="dk1"/>
                </a:solidFill>
              </a:rPr>
              <a:t>test_results </a:t>
            </a:r>
            <a:endParaRPr sz="996">
              <a:solidFill>
                <a:schemeClr val="dk1"/>
              </a:solidFill>
            </a:endParaRPr>
          </a:p>
          <a:p>
            <a:pPr indent="254" lvl="0" marL="8349" rtl="0" algn="l">
              <a:lnSpc>
                <a:spcPct val="99958"/>
              </a:lnSpc>
              <a:spcBef>
                <a:spcPts val="631"/>
              </a:spcBef>
              <a:spcAft>
                <a:spcPts val="0"/>
              </a:spcAft>
              <a:buNone/>
            </a:pPr>
            <a:r>
              <a:rPr lang="it" sz="996">
                <a:solidFill>
                  <a:schemeClr val="dk1"/>
                </a:solidFill>
              </a:rPr>
              <a:t>Downloads tiny test data, runs stubs (no Docker pulls), validates channels, config, MultiQC, reports, resume. Exit 0 = logic solid. </a:t>
            </a:r>
            <a:endParaRPr sz="996">
              <a:solidFill>
                <a:schemeClr val="dk1"/>
              </a:solidFill>
            </a:endParaRPr>
          </a:p>
          <a:p>
            <a:pPr indent="0" lvl="0" marL="13284" rtl="0" algn="l">
              <a:lnSpc>
                <a:spcPct val="100000"/>
              </a:lnSpc>
              <a:spcBef>
                <a:spcPts val="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96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